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32"/>
    <p:sldId id="275" r:id="rId21"/>
    <p:sldId id="276" r:id="rId22"/>
    <p:sldId id="277" r:id="rId23"/>
    <p:sldId id="278" r:id="rId24"/>
    <p:sldId id="279" r:id="rId25"/>
    <p:sldId id="282" r:id="rId33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341a8e22-5865-64bb-cd2f-75a41d1ad8a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Mask R-CNN" id="{e7ac0ce5-4c2e-e48e-26d4-4b4d551fffb8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Footprint" id="{de1ec5d3-c019-6324-7e9d-c5166f0329a1}">
          <p14:sldIdLst>
            <p14:sldId id="270"/>
            <p14:sldId id="271"/>
            <p14:sldId id="272"/>
          </p14:sldIdLst>
        </p14:section>
        <p14:section name="Terrain" id="{41d7b032-dd22-6485-f8d8-937686a400c4}">
          <p14:sldIdLst>
            <p14:sldId id="273"/>
            <p14:sldId id="274"/>
          </p14:sldIdLst>
        </p14:section>
        <p14:section name="Tinggi dan 3D" id="{0d7c3cf3-123d-d867-0894-1b6fefd868d7}">
          <p14:sldIdLst>
            <p14:sldId id="275"/>
            <p14:sldId id="276"/>
            <p14:sldId id="277"/>
            <p14:sldId id="278"/>
            <p14:sldId id="279"/>
          </p14:sldIdLst>
        </p14:section>
        <p14:section name="Penutup" id="{457aa42d-e379-ac9d-54b5-48ef86a57771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  <Relationship Id="rId32" Type="http://schemas.openxmlformats.org/officeDocument/2006/relationships/slide" Target="slides/slide26.xml"/>
  <Relationship Id="rId33" Type="http://schemas.openxmlformats.org/officeDocument/2006/relationships/slide" Target="slides/slide27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0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03A"/>
                </a:solidFill>
                <a:latin typeface="+mn-lt"/>
              </a:rPr>
              <a:t>F1 instance (IoU mask ≥ 0,5), referensi OSM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 2 e8</c:v>
                </c:pt>
              </c:strCache>
            </c:strRef>
          </c:tx>
          <c:spPr>
            <a:solidFill>
              <a:srgbClr val="1F7A5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bangunan</c:v>
                  </c:pt>
                  <c:pt idx="1">
                    <c:v>jalan</c:v>
                  </c:pt>
                  <c:pt idx="2">
                    <c:v>vegetasi</c:v>
                  </c:pt>
                  <c:pt idx="3">
                    <c:v>air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</c:v>
                </c:pt>
                <c:pt idx="1">
                  <c:v>0.007</c:v>
                </c:pt>
                <c:pt idx="2">
                  <c:v>0.149</c:v>
                </c:pt>
                <c:pt idx="3">
                  <c:v>0.087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 3 e25</c:v>
                </c:pt>
              </c:strCache>
            </c:strRef>
          </c:tx>
          <c:spPr>
            <a:solidFill>
              <a:srgbClr val="E88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bangunan</c:v>
                  </c:pt>
                  <c:pt idx="1">
                    <c:v>jalan</c:v>
                  </c:pt>
                  <c:pt idx="2">
                    <c:v>vegetasi</c:v>
                  </c:pt>
                  <c:pt idx="3">
                    <c:v>air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0.285</c:v>
                </c:pt>
                <c:pt idx="1">
                  <c:v>0.005</c:v>
                </c:pt>
                <c:pt idx="2">
                  <c:v>0.167</c:v>
                </c:pt>
                <c:pt idx="3">
                  <c:v>0.385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8C9A9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bangunan</c:v>
                  </c:pt>
                  <c:pt idx="1">
                    <c:v>jalan</c:v>
                  </c:pt>
                  <c:pt idx="2">
                    <c:v>vegetasi</c:v>
                  </c:pt>
                  <c:pt idx="3">
                    <c:v>air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0.82</c:v>
                </c:pt>
                <c:pt idx="1">
                  <c:v>0.73</c:v>
                </c:pt>
                <c:pt idx="2">
                  <c:v>0.93</c:v>
                </c:pt>
                <c:pt idx="3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A9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2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0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03A"/>
                </a:solidFill>
                <a:latin typeface="+mn-lt"/>
              </a:rPr>
              <a:t>Run 2 e8 — instance vs piksel, referensi OSM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instance</c:v>
                </c:pt>
              </c:strCache>
            </c:strRef>
          </c:tx>
          <c:spPr>
            <a:solidFill>
              <a:srgbClr val="8C9A9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bangunan</c:v>
                  </c:pt>
                  <c:pt idx="1">
                    <c:v>jalan</c:v>
                  </c:pt>
                  <c:pt idx="2">
                    <c:v>vegetasi</c:v>
                  </c:pt>
                  <c:pt idx="3">
                    <c:v>air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</c:v>
                </c:pt>
                <c:pt idx="1">
                  <c:v>0.007</c:v>
                </c:pt>
                <c:pt idx="2">
                  <c:v>0.149</c:v>
                </c:pt>
                <c:pt idx="3">
                  <c:v>0.087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piksel</c:v>
                </c:pt>
              </c:strCache>
            </c:strRef>
          </c:tx>
          <c:spPr>
            <a:solidFill>
              <a:srgbClr val="1F7A5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bangunan</c:v>
                  </c:pt>
                  <c:pt idx="1">
                    <c:v>jalan</c:v>
                  </c:pt>
                  <c:pt idx="2">
                    <c:v>vegetasi</c:v>
                  </c:pt>
                  <c:pt idx="3">
                    <c:v>air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0.612</c:v>
                </c:pt>
                <c:pt idx="1">
                  <c:v>0.159</c:v>
                </c:pt>
                <c:pt idx="2">
                  <c:v>0.437</c:v>
                </c:pt>
                <c:pt idx="3">
                  <c:v>0.246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A9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2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Presentasi ini merangkum validasi pipeline 3D city model kampus UI: Mask R-CNN, footprint, terrain, tinggi gedung, dan output 3D. Sumber angka: ui3d/report.md.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utama: pipeline lengkap jalan dan menghasilkan 995 gedung 3D. Bagian lemah ada di Mask R-CNN dan evaluasi terrain.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Khayyal, Zeidan &amp; Beshr (2022) membangun model kota 3D Mansoura dari citra satelit dan GIS. Kami mengulangnya untuk kampus UI dengan data gratis dan 100% Python, tanpa CityEngine/ArcGIS.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run 3, footprint GOB v3 juga ditambahkan ke label latih notebook 04. Notebook 09 membaca DEM 8 m langsung dari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2 dan run 3 memakai area validasi identik (39 chip, 249 gedung referensi) sehingga bisa dibandingkan langsung. Run 1 memakai split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backbone = mata (tepi → tekstur → bentuk); FPN = kaca pembesar berlapis (gedung kecil di P2, besar di P5); RPN = jari yang menunjuk kotak 'mungkin objek'; kepala = juri (kelas) dan juru gambar (mask 28×28). Saat latihan 5 loss dijumlahkan: RPN objek, RPN kotak, kelas, kotak, mask.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Tangkapan dari halaman interaktif three.js: footprint OSM asli diekstrusi setinggi Bld_Height. Versi interaktif ada di link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_GELAP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_GELAP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377440"/>
            <a:ext cx="9052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052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Validasi pipeline ui3d — Kampus UI Depok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Validasi Pipeline 3D City Model Kampus UI Depok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Replikasi Khayyal, Zeidan &amp; Beshr (2022) dengan data terbuka — hasil run 1–3, Oktober 2026</a:t>
            </a:r>
            <a:endParaRPr lang="en-US" sz="2000" dirty="0"/>
          </a:p>
        </p:txBody>
      </p:sp>
      <p:sp>
        <p:nvSpPr>
          <p:cNvPr id="4" name="ikon-judul-lingkaran"/>
          <p:cNvSpPr/>
          <p:nvPr/>
        </p:nvSpPr>
        <p:spPr>
          <a:xfrm>
            <a:off x="731520" y="822960"/>
            <a:ext cx="914400" cy="91440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5" name="ikon-judul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51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Footprint dan 3D sudah setara paper; Mask R-CNN belum</a:t>
            </a:r>
            <a:endParaRPr lang="en-US" sz="2800" dirty="0"/>
          </a:p>
        </p:txBody>
      </p:sp>
      <p:sp>
        <p:nvSpPr>
          <p:cNvPr id="3" name="kartu-stat-1"/>
          <p:cNvSpPr/>
          <p:nvPr/>
        </p:nvSpPr>
        <p:spPr>
          <a:xfrm>
            <a:off x="54864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-1-nilai"/>
          <p:cNvSpPr txBox="1"/>
          <p:nvPr/>
        </p:nvSpPr>
        <p:spPr>
          <a:xfrm>
            <a:off x="77724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995</a:t>
            </a:r>
            <a:endParaRPr lang="en-US" sz="4000" dirty="0"/>
          </a:p>
        </p:txBody>
      </p:sp>
      <p:sp>
        <p:nvSpPr>
          <p:cNvPr id="5" name="stat-1-label"/>
          <p:cNvSpPr txBox="1"/>
          <p:nvPr/>
        </p:nvSpPr>
        <p:spPr>
          <a:xfrm>
            <a:off x="77724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gedung OSM dipetakan, diberi tinggi, dan dibuat LOD1 + LOD2</a:t>
            </a:r>
            <a:endParaRPr lang="en-US" sz="1300" dirty="0"/>
          </a:p>
        </p:txBody>
      </p:sp>
      <p:sp>
        <p:nvSpPr>
          <p:cNvPr id="6" name="kartu-stat-2"/>
          <p:cNvSpPr/>
          <p:nvPr/>
        </p:nvSpPr>
        <p:spPr>
          <a:xfrm>
            <a:off x="338328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2-nilai"/>
          <p:cNvSpPr txBox="1"/>
          <p:nvPr/>
        </p:nvSpPr>
        <p:spPr>
          <a:xfrm>
            <a:off x="361188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3,72 m</a:t>
            </a:r>
            <a:endParaRPr lang="en-US" sz="4000" dirty="0"/>
          </a:p>
        </p:txBody>
      </p:sp>
      <p:sp>
        <p:nvSpPr>
          <p:cNvPr id="8" name="stat-2-label"/>
          <p:cNvSpPr txBox="1"/>
          <p:nvPr/>
        </p:nvSpPr>
        <p:spPr>
          <a:xfrm>
            <a:off x="361188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RMSE vertex footprint Google Open Buildings v3 (paper 3,7 m)</a:t>
            </a:r>
            <a:endParaRPr lang="en-US" sz="1300" dirty="0"/>
          </a:p>
        </p:txBody>
      </p:sp>
      <p:sp>
        <p:nvSpPr>
          <p:cNvPr id="9" name="kartu-stat-3"/>
          <p:cNvSpPr/>
          <p:nvPr/>
        </p:nvSpPr>
        <p:spPr>
          <a:xfrm>
            <a:off x="621792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3-nilai"/>
          <p:cNvSpPr txBox="1"/>
          <p:nvPr/>
        </p:nvSpPr>
        <p:spPr>
          <a:xfrm>
            <a:off x="644652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0,29</a:t>
            </a:r>
            <a:endParaRPr lang="en-US" sz="4000" dirty="0"/>
          </a:p>
        </p:txBody>
      </p:sp>
      <p:sp>
        <p:nvSpPr>
          <p:cNvPr id="11" name="stat-3-label"/>
          <p:cNvSpPr txBox="1"/>
          <p:nvPr/>
        </p:nvSpPr>
        <p:spPr>
          <a:xfrm>
            <a:off x="644652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instance bangunan Mask R-CNN (paper 0,82)</a:t>
            </a:r>
            <a:endParaRPr lang="en-US" sz="1300" dirty="0"/>
          </a:p>
        </p:txBody>
      </p:sp>
      <p:sp>
        <p:nvSpPr>
          <p:cNvPr id="12" name="kartu-stat-4"/>
          <p:cNvSpPr/>
          <p:nvPr/>
        </p:nvSpPr>
        <p:spPr>
          <a:xfrm>
            <a:off x="905256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4-nilai"/>
          <p:cNvSpPr txBox="1"/>
          <p:nvPr/>
        </p:nvSpPr>
        <p:spPr>
          <a:xfrm>
            <a:off x="928116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</a:t>
            </a:r>
            <a:endParaRPr lang="en-US" sz="4000" dirty="0"/>
          </a:p>
        </p:txBody>
      </p:sp>
      <p:sp>
        <p:nvSpPr>
          <p:cNvPr id="14" name="stat-4-label"/>
          <p:cNvSpPr txBox="1"/>
          <p:nvPr/>
        </p:nvSpPr>
        <p:spPr>
          <a:xfrm>
            <a:off x="928116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piksel bangunan — atap ditemukan, bentuk instance gagal</a:t>
            </a:r>
            <a:endParaRPr lang="en-US" sz="1300" dirty="0"/>
          </a:p>
        </p:txBody>
      </p:sp>
      <p:sp>
        <p:nvSpPr>
          <p:cNvPr id="15" name="ringkasan-poin"/>
          <p:cNvSpPr txBox="1"/>
          <p:nvPr/>
        </p:nvSpPr>
        <p:spPr>
          <a:xfrm>
            <a:off x="548640" y="406908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Tinggi gedung (Pers. 1) cocok dengan Open Buildings 2.5D: median selisih +0,52 m, MAE 1,87 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Terrain DEMNAS vs ICESat-2: RMSE 7,64 m, NMAD 3,11 m — DSM radar vs tanah di bawah kanopi, bukan galat DEM murni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Menambah label GOB v3 (run 3) tidak memperbaiki model secara berarti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 kota 3D yang akurat biasanya mahal</a:t>
            </a:r>
            <a:endParaRPr lang="en-US" sz="2800" dirty="0"/>
          </a:p>
        </p:txBody>
      </p:sp>
      <p:sp>
        <p:nvSpPr>
          <p:cNvPr id="3" name="kartu-masalah"/>
          <p:cNvSpPr/>
          <p:nvPr/>
        </p:nvSpPr>
        <p:spPr>
          <a:xfrm>
            <a:off x="54864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salah-judul"/>
          <p:cNvSpPr txBox="1"/>
          <p:nvPr/>
        </p:nvSpPr>
        <p:spPr>
          <a:xfrm>
            <a:off x="8229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</a:t>
            </a:r>
            <a:endParaRPr lang="en-US" sz="2000" dirty="0"/>
          </a:p>
        </p:txBody>
      </p:sp>
      <p:sp>
        <p:nvSpPr>
          <p:cNvPr id="5" name="masalah-poin"/>
          <p:cNvSpPr txBox="1"/>
          <p:nvPr/>
        </p:nvSpPr>
        <p:spPr>
          <a:xfrm>
            <a:off x="822960" y="2148840"/>
            <a:ext cx="4434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Survei geodetik (total station, levelling) tidak praktis untuk area seluas kampus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 gratis (DEM, citra, OSM) tersedia, tetapi akurasinya belum jelas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Pemodelan 3D manual gedung satu per satu sangat lambat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 acuan (Mansoura): model cukup akurat dalam ±20% waktu manual</a:t>
            </a:r>
            <a:endParaRPr lang="en-US" sz="1500" dirty="0"/>
          </a:p>
        </p:txBody>
      </p:sp>
      <p:sp>
        <p:nvSpPr>
          <p:cNvPr id="6" name="tujuan-judul"/>
          <p:cNvSpPr txBox="1"/>
          <p:nvPr/>
        </p:nvSpPr>
        <p:spPr>
          <a:xfrm>
            <a:off x="5943600" y="14173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</a:t>
            </a:r>
            <a:endParaRPr lang="en-US" sz="2000" dirty="0"/>
          </a:p>
        </p:txBody>
      </p:sp>
      <p:sp>
        <p:nvSpPr>
          <p:cNvPr id="7" name="tujuan-1-lingkaran"/>
          <p:cNvSpPr/>
          <p:nvPr/>
        </p:nvSpPr>
        <p:spPr>
          <a:xfrm>
            <a:off x="5943600" y="201168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ujuan-1-nomor"/>
          <p:cNvSpPr txBox="1"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ujuan-1-nama"/>
          <p:cNvSpPr txBox="1"/>
          <p:nvPr/>
        </p:nvSpPr>
        <p:spPr>
          <a:xfrm>
            <a:off x="6720840" y="199339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Bangun model kota 3D</a:t>
            </a:r>
            <a:endParaRPr lang="en-US" sz="1700" dirty="0"/>
          </a:p>
        </p:txBody>
      </p:sp>
      <p:sp>
        <p:nvSpPr>
          <p:cNvPr id="10" name="tujuan-1-isi"/>
          <p:cNvSpPr txBox="1"/>
          <p:nvPr/>
        </p:nvSpPr>
        <p:spPr>
          <a:xfrm>
            <a:off x="6720840" y="23591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LOD1 (blok) sampai LOD2 (fasad, jendela, pintu) dari data gratis</a:t>
            </a:r>
            <a:endParaRPr lang="en-US" sz="1400" dirty="0"/>
          </a:p>
        </p:txBody>
      </p:sp>
      <p:sp>
        <p:nvSpPr>
          <p:cNvPr id="11" name="tujuan-2-lingkaran"/>
          <p:cNvSpPr/>
          <p:nvPr/>
        </p:nvSpPr>
        <p:spPr>
          <a:xfrm>
            <a:off x="5943600" y="3035808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ujuan-2-nomor"/>
          <p:cNvSpPr txBox="1"/>
          <p:nvPr/>
        </p:nvSpPr>
        <p:spPr>
          <a:xfrm>
            <a:off x="59436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ujuan-2-nama"/>
          <p:cNvSpPr txBox="1"/>
          <p:nvPr/>
        </p:nvSpPr>
        <p:spPr>
          <a:xfrm>
            <a:off x="6720840" y="30175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Ukur akurasi data gratis</a:t>
            </a:r>
            <a:endParaRPr lang="en-US" sz="1700" dirty="0"/>
          </a:p>
        </p:txBody>
      </p:sp>
      <p:sp>
        <p:nvSpPr>
          <p:cNvPr id="14" name="tujuan-2-isi"/>
          <p:cNvSpPr txBox="1"/>
          <p:nvPr/>
        </p:nvSpPr>
        <p:spPr>
          <a:xfrm>
            <a:off x="6720840" y="3383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 vs laser ICESat-2, footprint vs peta OSM</a:t>
            </a:r>
            <a:endParaRPr lang="en-US" sz="1400" dirty="0"/>
          </a:p>
        </p:txBody>
      </p:sp>
      <p:sp>
        <p:nvSpPr>
          <p:cNvPr id="15" name="tujuan-3-lingkaran"/>
          <p:cNvSpPr/>
          <p:nvPr/>
        </p:nvSpPr>
        <p:spPr>
          <a:xfrm>
            <a:off x="5943600" y="4059936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ujuan-3-nomor"/>
          <p:cNvSpPr txBox="1"/>
          <p:nvPr/>
        </p:nvSpPr>
        <p:spPr>
          <a:xfrm>
            <a:off x="5943600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ujuan-3-nama"/>
          <p:cNvSpPr txBox="1"/>
          <p:nvPr/>
        </p:nvSpPr>
        <p:spPr>
          <a:xfrm>
            <a:off x="6720840" y="40416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Uji deep learning</a:t>
            </a:r>
            <a:endParaRPr lang="en-US" sz="1700" dirty="0"/>
          </a:p>
        </p:txBody>
      </p:sp>
      <p:sp>
        <p:nvSpPr>
          <p:cNvPr id="18" name="tujuan-3-isi"/>
          <p:cNvSpPr txBox="1"/>
          <p:nvPr/>
        </p:nvSpPr>
        <p:spPr>
          <a:xfrm>
            <a:off x="6720840" y="4407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Mask R-CNN mengenali gedung, jalan, vegetasi, air</a:t>
            </a:r>
            <a:endParaRPr lang="en-US" sz="1400" dirty="0"/>
          </a:p>
        </p:txBody>
      </p:sp>
      <p:sp>
        <p:nvSpPr>
          <p:cNvPr id="19" name="tujuan-4-lingkaran"/>
          <p:cNvSpPr/>
          <p:nvPr/>
        </p:nvSpPr>
        <p:spPr>
          <a:xfrm>
            <a:off x="5943600" y="5084064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ujuan-4-nomor"/>
          <p:cNvSpPr txBox="1"/>
          <p:nvPr/>
        </p:nvSpPr>
        <p:spPr>
          <a:xfrm>
            <a:off x="5943600" y="5084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ujuan-4-nama"/>
          <p:cNvSpPr txBox="1"/>
          <p:nvPr/>
        </p:nvSpPr>
        <p:spPr>
          <a:xfrm>
            <a:off x="6720840" y="50657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Pakai modelnya</a:t>
            </a:r>
            <a:endParaRPr lang="en-US" sz="1700" dirty="0"/>
          </a:p>
        </p:txBody>
      </p:sp>
      <p:sp>
        <p:nvSpPr>
          <p:cNvPr id="22" name="tujuan-4-isi"/>
          <p:cNvSpPr txBox="1"/>
          <p:nvPr/>
        </p:nvSpPr>
        <p:spPr>
          <a:xfrm>
            <a:off x="6720840" y="543153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Peta web 3D, simulasi genangan, denah indoor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Delapan sumber data, semuanya gratis</a:t>
            </a:r>
            <a:endParaRPr lang="en-US" sz="2800" dirty="0"/>
          </a:p>
        </p:txBody>
      </p:sp>
      <p:graphicFrame>
        <p:nvGraphicFramePr>
          <p:cNvPr id="5" name="tabel-dat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645920"/>
                <a:gridCol w="2286000"/>
                <a:gridCol w="1920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Dipakai untuk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Resolusi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Cara ambil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Pengganti di paper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Citra Esri World Imagery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Melihat atap; latih Mask R-CNN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±0,3 m (zoom 19)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otomatis, tile XYZ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Citra satelit 30 cm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OpenStreetMap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Footprint referensi, label latih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vektor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otomatis, OSM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Digitasi manual, total station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DEMNAS (BIG)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Permukaan tanah utama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8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manual, 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DEM NASA 12,5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Copernicus GLO-30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DEM pembanding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otomatis, Planetary Computer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ICESat-2 ATL08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Tinggi tanah referensi (laser)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segmen 100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otomatis, SlideRule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Grid levelling tiap 30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Google Open Buildings v3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Footprint hasil mesin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vektor + confidence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otomatis, Google Cloud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Hasil Mask R-CNN paper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Open Buildings 2.5D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Tinggi gedung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manual, Earth Engine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Jumlah lantai lapangan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Batas kampus (OSM)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Area studi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vektor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otomatis, osmnx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data-catatan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Oranye = harus diunduh manual karena butuh akun. Sisanya diambil langsung dengan Python.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Empat tahap, sebelas notebook</a:t>
            </a:r>
            <a:endParaRPr lang="en-US" sz="2800" dirty="0"/>
          </a:p>
        </p:txBody>
      </p:sp>
      <p:pic>
        <p:nvPicPr>
          <p:cNvPr id="3" name="gambar-alur" descr="/home/luwes-system/Desktop/bahan ajar 2026/ui3d/figures/diagram_al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589520" cy="4936818"/>
          </a:xfrm>
          <a:prstGeom prst="rect">
            <a:avLst/>
          </a:prstGeom>
        </p:spPr>
      </p:pic>
      <p:sp>
        <p:nvSpPr>
          <p:cNvPr id="4" name="kartu-alur"/>
          <p:cNvSpPr/>
          <p:nvPr/>
        </p:nvSpPr>
        <p:spPr>
          <a:xfrm>
            <a:off x="8412480" y="1325880"/>
            <a:ext cx="3200400" cy="48006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lur-poin"/>
          <p:cNvSpPr txBox="1"/>
          <p:nvPr/>
        </p:nvSpPr>
        <p:spPr>
          <a:xfrm>
            <a:off x="8641080" y="1554480"/>
            <a:ext cx="2788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Semua data dipotong ke batas kampus di notebook 01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Cabang kiri: gedung (03 → 04 → 05)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Cabang kanan: permukaan tanah (02)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Keduanya bertemu di 06: tinggi gedung + geodatabase ui3d.gpkg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06 dipakai semua aplikasi: 3D, web, indoor, genangan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Tiga run, tiap run memperbaiki kelemahan run sebelumnya</a:t>
            </a:r>
            <a:endParaRPr lang="en-US" sz="2800" dirty="0"/>
          </a:p>
        </p:txBody>
      </p:sp>
      <p:sp>
        <p:nvSpPr>
          <p:cNvPr id="3" name="kartu-run-1"/>
          <p:cNvSpPr/>
          <p:nvPr/>
        </p:nvSpPr>
        <p:spPr>
          <a:xfrm>
            <a:off x="54864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kon-run-1-lingkaran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5" name="ikon-run-1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run-1-nama"/>
          <p:cNvSpPr txBox="1"/>
          <p:nvPr/>
        </p:nvSpPr>
        <p:spPr>
          <a:xfrm>
            <a:off x="173736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</a:t>
            </a:r>
            <a:endParaRPr lang="en-US" sz="2200" dirty="0"/>
          </a:p>
        </p:txBody>
      </p:sp>
      <p:sp>
        <p:nvSpPr>
          <p:cNvPr id="7" name="run-1-sub"/>
          <p:cNvSpPr txBox="1"/>
          <p:nvPr/>
        </p:nvSpPr>
        <p:spPr>
          <a:xfrm>
            <a:off x="173736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Pipeline awal</a:t>
            </a:r>
            <a:endParaRPr lang="en-US" sz="1300" dirty="0"/>
          </a:p>
        </p:txBody>
      </p:sp>
      <p:sp>
        <p:nvSpPr>
          <p:cNvPr id="8" name="run-1-poin"/>
          <p:cNvSpPr txBox="1"/>
          <p:nvPr/>
        </p:nvSpPr>
        <p:spPr>
          <a:xfrm>
            <a:off x="82296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117 chip latih / 54 validasi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Bobot epoch terakhir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Gabung poligon unary_union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 = jumlah lantai total</a:t>
            </a:r>
            <a:endParaRPr lang="en-US" sz="1500" dirty="0"/>
          </a:p>
        </p:txBody>
      </p:sp>
      <p:sp>
        <p:nvSpPr>
          <p:cNvPr id="9" name="kartu-run-2"/>
          <p:cNvSpPr/>
          <p:nvPr/>
        </p:nvSpPr>
        <p:spPr>
          <a:xfrm>
            <a:off x="429768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kon-run-2-lingkaran"/>
          <p:cNvSpPr/>
          <p:nvPr/>
        </p:nvSpPr>
        <p:spPr>
          <a:xfrm>
            <a:off x="4572000" y="1600200"/>
            <a:ext cx="731520" cy="73152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1" name="ikon-run-2-ik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080"/>
            <a:ext cx="365760" cy="365760"/>
          </a:xfrm>
          <a:prstGeom prst="rect">
            <a:avLst/>
          </a:prstGeom>
        </p:spPr>
      </p:pic>
      <p:sp>
        <p:nvSpPr>
          <p:cNvPr id="12" name="run-2-nama"/>
          <p:cNvSpPr txBox="1"/>
          <p:nvPr/>
        </p:nvSpPr>
        <p:spPr>
          <a:xfrm>
            <a:off x="548640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</a:t>
            </a:r>
            <a:endParaRPr lang="en-US" sz="2200" dirty="0"/>
          </a:p>
        </p:txBody>
      </p:sp>
      <p:sp>
        <p:nvSpPr>
          <p:cNvPr id="13" name="run-2-sub"/>
          <p:cNvSpPr txBox="1"/>
          <p:nvPr/>
        </p:nvSpPr>
        <p:spPr>
          <a:xfrm>
            <a:off x="548640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Perbaikan metode</a:t>
            </a:r>
            <a:endParaRPr lang="en-US" sz="1300" dirty="0"/>
          </a:p>
        </p:txBody>
      </p:sp>
      <p:sp>
        <p:nvSpPr>
          <p:cNvPr id="14" name="run-2-poin"/>
          <p:cNvSpPr txBox="1"/>
          <p:nvPr/>
        </p:nvSpPr>
        <p:spPr>
          <a:xfrm>
            <a:off x="457200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473 chip latih (stride 256) / 39 validasi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Rotasi 90° + flip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Bobot = loss validasi terendah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NMS antar-window, N = lantai di atas dasar</a:t>
            </a:r>
            <a:endParaRPr lang="en-US" sz="1500" dirty="0"/>
          </a:p>
        </p:txBody>
      </p:sp>
      <p:sp>
        <p:nvSpPr>
          <p:cNvPr id="15" name="kartu-run-3"/>
          <p:cNvSpPr/>
          <p:nvPr/>
        </p:nvSpPr>
        <p:spPr>
          <a:xfrm>
            <a:off x="804672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kon-run-3-lingkaran"/>
          <p:cNvSpPr/>
          <p:nvPr/>
        </p:nvSpPr>
        <p:spPr>
          <a:xfrm>
            <a:off x="8321040" y="1600200"/>
            <a:ext cx="731520" cy="731520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pic>
        <p:nvPicPr>
          <p:cNvPr id="17" name="ikon-run-3-ik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365760" cy="365760"/>
          </a:xfrm>
          <a:prstGeom prst="rect">
            <a:avLst/>
          </a:prstGeom>
        </p:spPr>
      </p:pic>
      <p:sp>
        <p:nvSpPr>
          <p:cNvPr id="18" name="run-3-nama"/>
          <p:cNvSpPr txBox="1"/>
          <p:nvPr/>
        </p:nvSpPr>
        <p:spPr>
          <a:xfrm>
            <a:off x="923544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3</a:t>
            </a:r>
            <a:endParaRPr lang="en-US" sz="2200" dirty="0"/>
          </a:p>
        </p:txBody>
      </p:sp>
      <p:sp>
        <p:nvSpPr>
          <p:cNvPr id="19" name="run-3-sub"/>
          <p:cNvSpPr txBox="1"/>
          <p:nvPr/>
        </p:nvSpPr>
        <p:spPr>
          <a:xfrm>
            <a:off x="92354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Label diperluas</a:t>
            </a:r>
            <a:endParaRPr lang="en-US" sz="1300" dirty="0"/>
          </a:p>
        </p:txBody>
      </p:sp>
      <p:sp>
        <p:nvSpPr>
          <p:cNvPr id="20" name="run-3-poin"/>
          <p:cNvSpPr txBox="1"/>
          <p:nvPr/>
        </p:nvSpPr>
        <p:spPr>
          <a:xfrm>
            <a:off x="832104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Seperti run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+355 gedung GOB v3 ke label bangunan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terpilih e25 (epoch 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Output saat ini dari run ini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37744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Mask R-CNN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Kurva latih, P/R/F1, dan confusion matrix di 39 chip validasi yang sama</a:t>
            </a:r>
            <a:endParaRPr lang="en-US" sz="1800" dirty="0"/>
          </a:p>
        </p:txBody>
      </p:sp>
      <p:sp>
        <p:nvSpPr>
          <p:cNvPr id="4" name="ikon-bagian-dl-lingkaran"/>
          <p:cNvSpPr/>
          <p:nvPr/>
        </p:nvSpPr>
        <p:spPr>
          <a:xfrm>
            <a:off x="822960" y="2514600"/>
            <a:ext cx="1188720" cy="118872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5" name="ikon-bagian-dl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811780"/>
            <a:ext cx="59436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Cara Mask R-CNN mengenali gedung dari satu potongan citra</a:t>
            </a:r>
            <a:endParaRPr lang="en-US" sz="2800" dirty="0"/>
          </a:p>
        </p:txBody>
      </p:sp>
      <p:pic>
        <p:nvPicPr>
          <p:cNvPr id="3" name="gambar-arsitektur" descr="/home/luwes-system/Desktop/bahan ajar 2026/ui3d/figures/diagram_maskrc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4640630"/>
          </a:xfrm>
          <a:prstGeom prst="rect">
            <a:avLst/>
          </a:prstGeom>
        </p:spPr>
      </p:pic>
      <p:sp>
        <p:nvSpPr>
          <p:cNvPr id="4" name="arsitektur-catatan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torchvision Mask R-CNN ResNet50-FPN v2 · bobot awal COCO · kepala diganti untuk 5 kelas · chip 512 px, AMP, batch 1, GPU 6 GB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Kapan sebuah tebakan dihitung benar</a:t>
            </a:r>
            <a:endParaRPr lang="en-US" sz="2800" dirty="0"/>
          </a:p>
        </p:txBody>
      </p:sp>
      <p:pic>
        <p:nvPicPr>
          <p:cNvPr id="3" name="gambar-iou" descr="/home/luwes-system/Desktop/bahan ajar 2026/ui3d/figures/diagram_i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669280" cy="3116343"/>
          </a:xfrm>
          <a:prstGeom prst="rect">
            <a:avLst/>
          </a:prstGeom>
        </p:spPr>
      </p:pic>
      <p:sp>
        <p:nvSpPr>
          <p:cNvPr id="4" name="iou-catatan"/>
          <p:cNvSpPr txBox="1"/>
          <p:nvPr/>
        </p:nvSpPr>
        <p:spPr>
          <a:xfrm>
            <a:off x="548640" y="4800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Gedung yang terpecah dua atau menyatu dengan tetangganya sering gagal mencapai 0,5 walau pikselnya benar.</a:t>
            </a:r>
            <a:endParaRPr lang="en-US" sz="1300" dirty="0"/>
          </a:p>
        </p:txBody>
      </p:sp>
      <p:sp>
        <p:nvSpPr>
          <p:cNvPr id="5" name="kartu-ukur"/>
          <p:cNvSpPr/>
          <p:nvPr/>
        </p:nvSpPr>
        <p:spPr>
          <a:xfrm>
            <a:off x="667512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ukur-judul"/>
          <p:cNvSpPr txBox="1"/>
          <p:nvPr/>
        </p:nvSpPr>
        <p:spPr>
          <a:xfrm>
            <a:off x="694944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ukur</a:t>
            </a:r>
            <a:endParaRPr lang="en-US" sz="2000" dirty="0"/>
          </a:p>
        </p:txBody>
      </p:sp>
      <p:sp>
        <p:nvSpPr>
          <p:cNvPr id="7" name="ukur-poin"/>
          <p:cNvSpPr txBox="1"/>
          <p:nvPr/>
        </p:nvSpPr>
        <p:spPr>
          <a:xfrm>
            <a:off x="6949440" y="2194560"/>
            <a:ext cx="4434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Precision, recall, F1 per objek untuk Mask R-CNN (IoU ≥ 0,5)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RMSE jarak sudut gedung dan distorsi luas untuk footprint, terhadap OSM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RMSE, NMAD, LE90 selisih tinggi untuk DEM, terhadap ICESat-2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 overfit setelah epoch 3–5 karena datanya kecil</a:t>
            </a:r>
            <a:endParaRPr lang="en-US" sz="2800" dirty="0"/>
          </a:p>
        </p:txBody>
      </p:sp>
      <p:pic>
        <p:nvPicPr>
          <p:cNvPr id="3" name="gambar-loss" descr="/home/luwes-system/Desktop/bahan ajar 2026/ui3d/figures/fig18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762997"/>
          </a:xfrm>
          <a:prstGeom prst="rect">
            <a:avLst/>
          </a:prstGeom>
        </p:spPr>
      </p:pic>
      <p:sp>
        <p:nvSpPr>
          <p:cNvPr id="4" name="loss-poin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Loss latih terus turun, loss validasi naik setelah epoch 3–5 di semua run 25 epoch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2 e8: loss validasi terendah 2,185 di epoch 7; run 3 e8: 2,211 di epoch 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Akar masalah: seluruh AOI hanya ±3 km² (473 chip latih yang saling tumpang tindih)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F1 instance jauh di bawah paper untuk semua kelas</a:t>
            </a:r>
            <a:endParaRPr lang="en-US" sz="2800" dirty="0"/>
          </a:p>
        </p:txBody>
      </p:sp>
      <p:graphicFrame>
        <p:nvGraphicFramePr>
          <p:cNvPr id="3" name="grafik-f1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u-f1"/>
          <p:cNvSpPr/>
          <p:nvPr/>
        </p:nvSpPr>
        <p:spPr>
          <a:xfrm>
            <a:off x="7863840" y="1325880"/>
            <a:ext cx="3749040" cy="480060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1-judul"/>
          <p:cNvSpPr txBox="1"/>
          <p:nvPr/>
        </p:nvSpPr>
        <p:spPr>
          <a:xfrm>
            <a:off x="813816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membaca</a:t>
            </a:r>
            <a:endParaRPr lang="en-US" sz="2000" dirty="0"/>
          </a:p>
        </p:txBody>
      </p:sp>
      <p:sp>
        <p:nvSpPr>
          <p:cNvPr id="6" name="f1-poin"/>
          <p:cNvSpPr txBox="1"/>
          <p:nvPr/>
        </p:nvSpPr>
        <p:spPr>
          <a:xfrm>
            <a:off x="8138160" y="210312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Bangunan run 2 e8: P 0,394 · R 0,229 · F1 0,290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Jalan F1 ≤ 0,007: ruas jalan bukan bentuk instance yang bisa dipelajari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 run 3 naik ke 0,385, tetapi hanya 17 objek air di validasi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Paper tidak melaporkan kelas air (nilai 0 = tidak ada)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Galat ada di objek terlewat dan prediksi palsu, bukan salah kelas</a:t>
            </a:r>
            <a:endParaRPr lang="en-US" sz="2800" dirty="0"/>
          </a:p>
        </p:txBody>
      </p:sp>
      <p:pic>
        <p:nvPicPr>
          <p:cNvPr id="3" name="gambar-cm-instance" descr="/home/luwes-system/Desktop/bahan ajar 2026/ui3d/figures/cm_in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3327009"/>
          </a:xfrm>
          <a:prstGeom prst="rect">
            <a:avLst/>
          </a:prstGeom>
        </p:spPr>
      </p:pic>
      <p:sp>
        <p:nvSpPr>
          <p:cNvPr id="4" name="kartu-cm-instance"/>
          <p:cNvSpPr/>
          <p:nvPr/>
        </p:nvSpPr>
        <p:spPr>
          <a:xfrm>
            <a:off x="8686800" y="1371600"/>
            <a:ext cx="2926080" cy="4754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m-instance-poin"/>
          <p:cNvSpPr txBox="1"/>
          <p:nvPr/>
        </p:nvSpPr>
        <p:spPr>
          <a:xfrm>
            <a:off x="8915400" y="1600200"/>
            <a:ext cx="2514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Baris = referensi OSM, kolom = prediksi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Kolom latar = FN: 231 gedung terlewat (run 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Baris latar = FP: 106–130 prediksi gedung tanpa pasangan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Diagonal kecil: 69–72 gedung cocok</a:t>
            </a:r>
            <a:endParaRPr lang="en-US" sz="1400" dirty="0"/>
          </a:p>
        </p:txBody>
      </p:sp>
      <p:sp>
        <p:nvSpPr>
          <p:cNvPr id="6" name="cm-instance-catatan"/>
          <p:cNvSpPr txBox="1"/>
          <p:nvPr/>
        </p:nvSpPr>
        <p:spPr>
          <a:xfrm>
            <a:off x="548640" y="4892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IoU ≥ 0,5 dan skor ≥ 0,5; pasangan dicari lintas kelas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 level piksel, tiga perempat atap gedung ditemukan</a:t>
            </a:r>
            <a:endParaRPr lang="en-US" sz="2800" dirty="0"/>
          </a:p>
        </p:txBody>
      </p:sp>
      <p:pic>
        <p:nvPicPr>
          <p:cNvPr id="3" name="gambar-cm-piksel" descr="/home/luwes-system/Desktop/bahan ajar 2026/ui3d/figures/cm_pix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3327009"/>
          </a:xfrm>
          <a:prstGeom prst="rect">
            <a:avLst/>
          </a:prstGeom>
        </p:spPr>
      </p:pic>
      <p:sp>
        <p:nvSpPr>
          <p:cNvPr id="4" name="kartu-cm-piksel"/>
          <p:cNvSpPr/>
          <p:nvPr/>
        </p:nvSpPr>
        <p:spPr>
          <a:xfrm>
            <a:off x="8686800" y="1371600"/>
            <a:ext cx="2926080" cy="4754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m-piksel-poin"/>
          <p:cNvSpPr txBox="1"/>
          <p:nvPr/>
        </p:nvSpPr>
        <p:spPr>
          <a:xfrm>
            <a:off x="8915400" y="1600200"/>
            <a:ext cx="2514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 piksel bangunan 0,74–0,75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Latar → vegetasi 30–48%: pohon nyata yang tidak dipetakan OSM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Jalan → latar 57–72%: jalan tertutup kanopi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 → vegetasi 41–50%: danau UI berwarna hijau</a:t>
            </a:r>
            <a:endParaRPr lang="en-US" sz="1400" dirty="0"/>
          </a:p>
        </p:txBody>
      </p:sp>
      <p:sp>
        <p:nvSpPr>
          <p:cNvPr id="6" name="cm-piksel-catatan"/>
          <p:cNvSpPr txBox="1"/>
          <p:nvPr/>
        </p:nvSpPr>
        <p:spPr>
          <a:xfrm>
            <a:off x="548640" y="4892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Dinormalisasi per baris (recall per kelas)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 menemukan atap, tetapi bentuk instance-nya tidak pas</a:t>
            </a:r>
            <a:endParaRPr lang="en-US" sz="2800" dirty="0"/>
          </a:p>
        </p:txBody>
      </p:sp>
      <p:graphicFrame>
        <p:nvGraphicFramePr>
          <p:cNvPr id="3" name="grafik-instance-piksel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u-akurasi"/>
          <p:cNvSpPr/>
          <p:nvPr/>
        </p:nvSpPr>
        <p:spPr>
          <a:xfrm>
            <a:off x="7863840" y="1325880"/>
            <a:ext cx="3749040" cy="480060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oa-nilai"/>
          <p:cNvSpPr txBox="1"/>
          <p:nvPr/>
        </p:nvSpPr>
        <p:spPr>
          <a:xfrm>
            <a:off x="8138160" y="1554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0,566</a:t>
            </a:r>
            <a:endParaRPr lang="en-US" sz="4000" dirty="0"/>
          </a:p>
        </p:txBody>
      </p:sp>
      <p:sp>
        <p:nvSpPr>
          <p:cNvPr id="6" name="stat-oa-label"/>
          <p:cNvSpPr txBox="1"/>
          <p:nvPr/>
        </p:nvSpPr>
        <p:spPr>
          <a:xfrm>
            <a:off x="813816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overall accuracy piksel terbaik (run 3 e8), kappa 0,323</a:t>
            </a:r>
            <a:endParaRPr lang="en-US" sz="1300" dirty="0"/>
          </a:p>
        </p:txBody>
      </p:sp>
      <p:sp>
        <p:nvSpPr>
          <p:cNvPr id="7" name="stat-iou-nilai"/>
          <p:cNvSpPr txBox="1"/>
          <p:nvPr/>
        </p:nvSpPr>
        <p:spPr>
          <a:xfrm>
            <a:off x="8138160" y="3337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0,452</a:t>
            </a:r>
            <a:endParaRPr lang="en-US" sz="4000" dirty="0"/>
          </a:p>
        </p:txBody>
      </p:sp>
      <p:sp>
        <p:nvSpPr>
          <p:cNvPr id="8" name="stat-iou-label"/>
          <p:cNvSpPr txBox="1"/>
          <p:nvPr/>
        </p:nvSpPr>
        <p:spPr>
          <a:xfrm>
            <a:off x="8138160" y="4206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IoU piksel bangunan terbaik (run 3 e25)</a:t>
            </a:r>
            <a:endParaRPr lang="en-US" sz="1300" dirty="0"/>
          </a:p>
        </p:txBody>
      </p:sp>
      <p:sp>
        <p:nvSpPr>
          <p:cNvPr id="9" name="akurasi-catatan"/>
          <p:cNvSpPr txBox="1"/>
          <p:nvPr/>
        </p:nvSpPr>
        <p:spPr>
          <a:xfrm>
            <a:off x="813816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Gedung terpecah atau tergabung → IoU &lt; 0,5 meski piksel benar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37744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Footprint bangunan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Google Open Buildings v3 dan Mask R-CNN dibandingkan dengan referensi OSM</a:t>
            </a:r>
            <a:endParaRPr lang="en-US" sz="1800" dirty="0"/>
          </a:p>
        </p:txBody>
      </p:sp>
      <p:sp>
        <p:nvSpPr>
          <p:cNvPr id="4" name="ikon-bagian-footprint-lingkaran"/>
          <p:cNvSpPr/>
          <p:nvPr/>
        </p:nvSpPr>
        <p:spPr>
          <a:xfrm>
            <a:off x="822960" y="2514600"/>
            <a:ext cx="1188720" cy="1188720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pic>
        <p:nvPicPr>
          <p:cNvPr id="5" name="ikon-bagian-footprint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811780"/>
            <a:ext cx="59436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Open Buildings v3 setara digitasi manual di paper</a:t>
            </a:r>
            <a:endParaRPr lang="en-US" sz="2800" dirty="0"/>
          </a:p>
        </p:txBody>
      </p:sp>
      <p:graphicFrame>
        <p:nvGraphicFramePr>
          <p:cNvPr id="17" name="tabel-footpri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371600"/>
                <a:gridCol w="1371600"/>
                <a:gridCol w="1463040"/>
                <a:gridCol w="164592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Sumber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Terdeteksi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IoU median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RMSE vertex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Distorsi pasangan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Distorsi 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Paper: digitasi manual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3,7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4,61%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Paper: deep learning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17,12%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GOB v3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AOI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51,9%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0,519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3,72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−0,36%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−7,2%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GOB v3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validasi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52,6%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3,86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−4,9%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−7,2%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Mask R-CNN run 1*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validasi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32,0%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5,23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−13,1%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−42,6%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Mask R-CNN run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validasi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23,3%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3,57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−5,5%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−29,7%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Mask R-CNN run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validasi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0,672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4,55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−6,3%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−55,1%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footprint-catatan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* Split validasi run 1 berbeda (309 gedung referensi). Pasangan = IoU tertinggi per gedung, dipakai bila IoU ≥ 0,3. Distorsi = (A_ref − A_i)/A_ref × 100%.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Kelebihan poligon Mask R-CNN sebagian besar bukan gedung</a:t>
            </a:r>
            <a:endParaRPr lang="en-US" sz="2800" dirty="0"/>
          </a:p>
        </p:txBody>
      </p:sp>
      <p:pic>
        <p:nvPicPr>
          <p:cNvPr id="3" name="gambar-pergeseran" descr="/home/luwes-system/Desktop/bahan ajar 2026/ui3d/figures/fig19_pergese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2944312"/>
          </a:xfrm>
          <a:prstGeom prst="rect">
            <a:avLst/>
          </a:prstGeom>
        </p:spPr>
      </p:pic>
      <p:sp>
        <p:nvSpPr>
          <p:cNvPr id="4" name="kartu-fp"/>
          <p:cNvSpPr/>
          <p:nvPr/>
        </p:nvSpPr>
        <p:spPr>
          <a:xfrm>
            <a:off x="8412480" y="1371600"/>
            <a:ext cx="3200400" cy="475488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poligon-nilai"/>
          <p:cNvSpPr txBox="1"/>
          <p:nvPr/>
        </p:nvSpPr>
        <p:spPr>
          <a:xfrm>
            <a:off x="8686800" y="1600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1.803</a:t>
            </a:r>
            <a:endParaRPr lang="en-US" sz="4000" dirty="0"/>
          </a:p>
        </p:txBody>
      </p:sp>
      <p:sp>
        <p:nvSpPr>
          <p:cNvPr id="6" name="stat-poligon-label"/>
          <p:cNvSpPr txBox="1"/>
          <p:nvPr/>
        </p:nvSpPr>
        <p:spPr>
          <a:xfrm>
            <a:off x="8686800" y="2468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poligon Mask R-CNN di seluruh AOI (run 3)</a:t>
            </a:r>
            <a:endParaRPr lang="en-US" sz="1300" dirty="0"/>
          </a:p>
        </p:txBody>
      </p:sp>
      <p:sp>
        <p:nvSpPr>
          <p:cNvPr id="7" name="stat-palsu-nilai"/>
          <p:cNvSpPr txBox="1"/>
          <p:nvPr/>
        </p:nvSpPr>
        <p:spPr>
          <a:xfrm>
            <a:off x="8686800" y="3246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1.240</a:t>
            </a:r>
            <a:endParaRPr lang="en-US" sz="4000" dirty="0"/>
          </a:p>
        </p:txBody>
      </p:sp>
      <p:sp>
        <p:nvSpPr>
          <p:cNvPr id="8" name="stat-palsu-label"/>
          <p:cNvSpPr txBox="1"/>
          <p:nvPr/>
        </p:nvSpPr>
        <p:spPr>
          <a:xfrm>
            <a:off x="86868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tidak menyentuh gedung OSM maupun GOB v3</a:t>
            </a:r>
            <a:endParaRPr lang="en-US" sz="1300" dirty="0"/>
          </a:p>
        </p:txBody>
      </p:sp>
      <p:sp>
        <p:nvSpPr>
          <p:cNvPr id="9" name="fp-catatan"/>
          <p:cNvSpPr txBox="1"/>
          <p:nvPr/>
        </p:nvSpPr>
        <p:spPr>
          <a:xfrm>
            <a:off x="8686800" y="4892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Kemungkinan kanopi, lapangan, atau atap teduh. NMS memangkas 2.705 kandidat jadi 1.803.</a:t>
            </a:r>
            <a:endParaRPr lang="en-US" sz="1300" dirty="0"/>
          </a:p>
        </p:txBody>
      </p:sp>
      <p:sp>
        <p:nvSpPr>
          <p:cNvPr id="10" name="pergeseran-catatan"/>
          <p:cNvSpPr txBox="1"/>
          <p:nvPr/>
        </p:nvSpPr>
        <p:spPr>
          <a:xfrm>
            <a:off x="54864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Panah = pergeseran centroid OSM → kandidat (dibesarkan 5×)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37744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Terrain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DEMNAS dan Copernicus GLO-30 dibandingkan dengan 1.249 segmen ICESat-2 ATL08</a:t>
            </a:r>
            <a:endParaRPr lang="en-US" sz="1800" dirty="0"/>
          </a:p>
        </p:txBody>
      </p:sp>
      <p:sp>
        <p:nvSpPr>
          <p:cNvPr id="4" name="ikon-bagian-terrain-lingkaran"/>
          <p:cNvSpPr/>
          <p:nvPr/>
        </p:nvSpPr>
        <p:spPr>
          <a:xfrm>
            <a:off x="822960" y="2514600"/>
            <a:ext cx="1188720" cy="11887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pic>
        <p:nvPicPr>
          <p:cNvPr id="5" name="ikon-bagian-terrain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811780"/>
            <a:ext cx="59436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 radar mengukur kanopi, ICESat-2 mengukur tanah</a:t>
            </a:r>
            <a:endParaRPr lang="en-US" sz="2800" dirty="0"/>
          </a:p>
        </p:txBody>
      </p:sp>
      <p:graphicFrame>
        <p:nvGraphicFramePr>
          <p:cNvPr id="20" name="tabel-terrai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640080"/>
                <a:gridCol w="822960"/>
                <a:gridCol w="777240"/>
                <a:gridCol w="86868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Subset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NMAD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LE90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|ΔZ| &lt; 0,85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Paper (vs levelling)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maks. 0,85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DEMNAS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semua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7,64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3,11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8,99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20,5%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DEMNAS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tanah terbuka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17,79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7,36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16,81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Copernicus GLO-30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semua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7,74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2,38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8,10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13,2%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Copernicus GLO-30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tanah terbuka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13,39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0,31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7,24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53,3%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4" name="gambar-histogram" descr="/home/luwes-system/Desktop/bahan ajar 2026/ui3d/figures/fig15_hist_d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852160" cy="2026677"/>
          </a:xfrm>
          <a:prstGeom prst="rect">
            <a:avLst/>
          </a:prstGeom>
        </p:spPr>
      </p:pic>
      <p:sp>
        <p:nvSpPr>
          <p:cNvPr id="5" name="kartu-terrain"/>
          <p:cNvSpPr/>
          <p:nvPr/>
        </p:nvSpPr>
        <p:spPr>
          <a:xfrm>
            <a:off x="7680960" y="1325880"/>
            <a:ext cx="3931920" cy="48006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rrain-poin"/>
          <p:cNvSpPr txBox="1"/>
          <p:nvPr/>
        </p:nvSpPr>
        <p:spPr>
          <a:xfrm>
            <a:off x="7955280" y="155448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tinggi kanopi di titik ICESat-2 ±9,7 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NMAD jauh lebih kecil dari RMSE: galat dari sedikit titik ekstrem (25 titik |ΔZ| &gt; 20 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Tanah terbuka hanya 15 titik, semuanya di luar AOI: kesimpulan lemah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Pembanding: RMSE DEMNAS 8,17 m vs GPS di Bogor (Susetyo 2023)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37744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Tinggi gedung dan output 3D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Pers. 1, LOD1/LOD2, Web-GIS, banjir, dan indoor</a:t>
            </a:r>
            <a:endParaRPr lang="en-US" sz="1800" dirty="0"/>
          </a:p>
        </p:txBody>
      </p:sp>
      <p:sp>
        <p:nvSpPr>
          <p:cNvPr id="4" name="ikon-bagian-3d-lingkaran"/>
          <p:cNvSpPr/>
          <p:nvPr/>
        </p:nvSpPr>
        <p:spPr>
          <a:xfrm>
            <a:off x="822960" y="2514600"/>
            <a:ext cx="1188720" cy="118872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5" name="ikon-bagian-3d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811780"/>
            <a:ext cx="59436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Empat aturan mengubah footprint menjadi gedung LOD2</a:t>
            </a:r>
            <a:endParaRPr lang="en-US" sz="2800" dirty="0"/>
          </a:p>
        </p:txBody>
      </p:sp>
      <p:pic>
        <p:nvPicPr>
          <p:cNvPr id="3" name="gambar-prosedural" descr="/home/luwes-system/Desktop/bahan ajar 2026/ui3d/figures/diagram_prosedu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658186"/>
          </a:xfrm>
          <a:prstGeom prst="rect">
            <a:avLst/>
          </a:prstGeom>
        </p:spPr>
      </p:pic>
      <p:sp>
        <p:nvSpPr>
          <p:cNvPr id="4" name="kartu-prosedural"/>
          <p:cNvSpPr/>
          <p:nvPr/>
        </p:nvSpPr>
        <p:spPr>
          <a:xfrm>
            <a:off x="548640" y="4251960"/>
            <a:ext cx="11064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sedural-poin"/>
          <p:cNvSpPr txBox="1"/>
          <p:nvPr/>
        </p:nvSpPr>
        <p:spPr>
          <a:xfrm>
            <a:off x="822960" y="4434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Pengganti aturan CGA di CityEngine: fungsi Python berurutan dengan satu rule file per kategori gedung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Bld_Height = GFl + Fl × N + 1,0 (GFl 4,0 m · Fl 3,5 m · N = lantai di atas lantai dasar)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Jendela = kotak tipis tertanam 0,15 m; pintu di lantai dasar fasad terpanjang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995 gedung kampus UI dalam 3D</a:t>
            </a:r>
            <a:endParaRPr lang="en-US" sz="2800" dirty="0"/>
          </a:p>
        </p:txBody>
      </p:sp>
      <p:pic>
        <p:nvPicPr>
          <p:cNvPr id="3" name="gambar-model3d" descr="Model 3D kampus UI: gedung LOD1 berwarna kategori di atas terrain DEMNAS bertekstur cit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88720"/>
            <a:ext cx="9692640" cy="4851507"/>
          </a:xfrm>
          <a:prstGeom prst="rect">
            <a:avLst/>
          </a:prstGeom>
        </p:spPr>
      </p:pic>
      <p:sp>
        <p:nvSpPr>
          <p:cNvPr id="4" name="legenda-1-warna"/>
          <p:cNvSpPr/>
          <p:nvPr/>
        </p:nvSpPr>
        <p:spPr>
          <a:xfrm>
            <a:off x="822960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0B02A"/>
          </a:solidFill>
          <a:ln w="12700">
            <a:solidFill>
              <a:srgbClr val="E0B02A"/>
            </a:solidFill>
            <a:prstDash val="solid"/>
          </a:ln>
        </p:spPr>
      </p:sp>
      <p:sp>
        <p:nvSpPr>
          <p:cNvPr id="5" name="legenda-1-nama"/>
          <p:cNvSpPr txBox="1"/>
          <p:nvPr/>
        </p:nvSpPr>
        <p:spPr>
          <a:xfrm>
            <a:off x="1078992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Fakultas</a:t>
            </a:r>
            <a:endParaRPr lang="en-US" sz="1100" dirty="0"/>
          </a:p>
        </p:txBody>
      </p:sp>
      <p:sp>
        <p:nvSpPr>
          <p:cNvPr id="6" name="legenda-2-warna"/>
          <p:cNvSpPr/>
          <p:nvPr/>
        </p:nvSpPr>
        <p:spPr>
          <a:xfrm>
            <a:off x="2404872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95545"/>
          </a:solidFill>
          <a:ln w="12700">
            <a:solidFill>
              <a:srgbClr val="D95545"/>
            </a:solidFill>
            <a:prstDash val="solid"/>
          </a:ln>
        </p:spPr>
      </p:sp>
      <p:sp>
        <p:nvSpPr>
          <p:cNvPr id="7" name="legenda-2-nama"/>
          <p:cNvSpPr txBox="1"/>
          <p:nvPr/>
        </p:nvSpPr>
        <p:spPr>
          <a:xfrm>
            <a:off x="2660904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Rumah sakit</a:t>
            </a:r>
            <a:endParaRPr lang="en-US" sz="1100" dirty="0"/>
          </a:p>
        </p:txBody>
      </p:sp>
      <p:sp>
        <p:nvSpPr>
          <p:cNvPr id="8" name="legenda-3-warna"/>
          <p:cNvSpPr/>
          <p:nvPr/>
        </p:nvSpPr>
        <p:spPr>
          <a:xfrm>
            <a:off x="3986784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9A68"/>
          </a:solidFill>
          <a:ln w="12700">
            <a:solidFill>
              <a:srgbClr val="2F9A68"/>
            </a:solidFill>
            <a:prstDash val="solid"/>
          </a:ln>
        </p:spPr>
      </p:sp>
      <p:sp>
        <p:nvSpPr>
          <p:cNvPr id="9" name="legenda-3-nama"/>
          <p:cNvSpPr txBox="1"/>
          <p:nvPr/>
        </p:nvSpPr>
        <p:spPr>
          <a:xfrm>
            <a:off x="4242816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Masjid</a:t>
            </a:r>
            <a:endParaRPr lang="en-US" sz="1100" dirty="0"/>
          </a:p>
        </p:txBody>
      </p:sp>
      <p:sp>
        <p:nvSpPr>
          <p:cNvPr id="10" name="legenda-4-warna"/>
          <p:cNvSpPr/>
          <p:nvPr/>
        </p:nvSpPr>
        <p:spPr>
          <a:xfrm>
            <a:off x="5568696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11" name="legenda-4-nama"/>
          <p:cNvSpPr txBox="1"/>
          <p:nvPr/>
        </p:nvSpPr>
        <p:spPr>
          <a:xfrm>
            <a:off x="5824728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Olahraga</a:t>
            </a:r>
            <a:endParaRPr lang="en-US" sz="1100" dirty="0"/>
          </a:p>
        </p:txBody>
      </p:sp>
      <p:sp>
        <p:nvSpPr>
          <p:cNvPr id="12" name="legenda-5-warna"/>
          <p:cNvSpPr/>
          <p:nvPr/>
        </p:nvSpPr>
        <p:spPr>
          <a:xfrm>
            <a:off x="7150608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5BC4"/>
          </a:solidFill>
          <a:ln w="12700">
            <a:solidFill>
              <a:srgbClr val="9B5BC4"/>
            </a:solidFill>
            <a:prstDash val="solid"/>
          </a:ln>
        </p:spPr>
      </p:sp>
      <p:sp>
        <p:nvSpPr>
          <p:cNvPr id="13" name="legenda-5-nama"/>
          <p:cNvSpPr txBox="1"/>
          <p:nvPr/>
        </p:nvSpPr>
        <p:spPr>
          <a:xfrm>
            <a:off x="7406640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Asrama</a:t>
            </a:r>
            <a:endParaRPr lang="en-US" sz="1100" dirty="0"/>
          </a:p>
        </p:txBody>
      </p:sp>
      <p:sp>
        <p:nvSpPr>
          <p:cNvPr id="14" name="legenda-6-warna"/>
          <p:cNvSpPr/>
          <p:nvPr/>
        </p:nvSpPr>
        <p:spPr>
          <a:xfrm>
            <a:off x="8732520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B2AD"/>
          </a:solidFill>
          <a:ln w="12700">
            <a:solidFill>
              <a:srgbClr val="A9B2AD"/>
            </a:solidFill>
            <a:prstDash val="solid"/>
          </a:ln>
        </p:spPr>
      </p:sp>
      <p:sp>
        <p:nvSpPr>
          <p:cNvPr id="15" name="legenda-6-nama"/>
          <p:cNvSpPr txBox="1"/>
          <p:nvPr/>
        </p:nvSpPr>
        <p:spPr>
          <a:xfrm>
            <a:off x="8988552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Fasilitas umum</a:t>
            </a:r>
            <a:endParaRPr lang="en-US" sz="1100" dirty="0"/>
          </a:p>
        </p:txBody>
      </p:sp>
      <p:sp>
        <p:nvSpPr>
          <p:cNvPr id="16" name="legenda-7-warna"/>
          <p:cNvSpPr/>
          <p:nvPr/>
        </p:nvSpPr>
        <p:spPr>
          <a:xfrm>
            <a:off x="10314432" y="61447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D5F87"/>
          </a:solidFill>
          <a:ln w="12700">
            <a:solidFill>
              <a:srgbClr val="2D5F87"/>
            </a:solidFill>
            <a:prstDash val="solid"/>
          </a:ln>
        </p:spPr>
      </p:sp>
      <p:sp>
        <p:nvSpPr>
          <p:cNvPr id="17" name="legenda-7-nama"/>
          <p:cNvSpPr txBox="1"/>
          <p:nvPr/>
        </p:nvSpPr>
        <p:spPr>
          <a:xfrm>
            <a:off x="10570464" y="6108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Danau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Rumus tinggi kini cocok dengan Open Buildings 2.5D</a:t>
            </a:r>
            <a:endParaRPr lang="en-US" sz="2800" dirty="0"/>
          </a:p>
        </p:txBody>
      </p:sp>
      <p:pic>
        <p:nvPicPr>
          <p:cNvPr id="3" name="gambar-tinggi" descr="/home/luwes-system/Desktop/bahan ajar 2026/ui3d/figures/fig_tinggi_bangu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3079655"/>
          </a:xfrm>
          <a:prstGeom prst="rect">
            <a:avLst/>
          </a:prstGeom>
        </p:spPr>
      </p:pic>
      <p:sp>
        <p:nvSpPr>
          <p:cNvPr id="4" name="rumus-tinggi"/>
          <p:cNvSpPr txBox="1"/>
          <p:nvPr/>
        </p:nvSpPr>
        <p:spPr>
          <a:xfrm>
            <a:off x="548640" y="4663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Bld_Height = GFl + Fl × N + 1,0   (GFl 4,0 m · Fl 3,5 m · N = lantai di atas lantai dasar)</a:t>
            </a:r>
            <a:endParaRPr lang="en-US" sz="1400" dirty="0"/>
          </a:p>
        </p:txBody>
      </p:sp>
      <p:sp>
        <p:nvSpPr>
          <p:cNvPr id="5" name="sumber-n"/>
          <p:cNvSpPr txBox="1"/>
          <p:nvPr/>
        </p:nvSpPr>
        <p:spPr>
          <a:xfrm>
            <a:off x="548640" y="5166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Sumber N: Open Buildings 2.5D 880 gedung, OSM building:levels 115 gedung</a:t>
            </a:r>
            <a:endParaRPr lang="en-US" sz="1300" dirty="0"/>
          </a:p>
        </p:txBody>
      </p:sp>
      <p:sp>
        <p:nvSpPr>
          <p:cNvPr id="6" name="kartu-tinggi"/>
          <p:cNvSpPr/>
          <p:nvPr/>
        </p:nvSpPr>
        <p:spPr>
          <a:xfrm>
            <a:off x="8595360" y="1371600"/>
            <a:ext cx="3017520" cy="47548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mae-nilai"/>
          <p:cNvSpPr txBox="1"/>
          <p:nvPr/>
        </p:nvSpPr>
        <p:spPr>
          <a:xfrm>
            <a:off x="886968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 m</a:t>
            </a:r>
            <a:endParaRPr lang="en-US" sz="4000" dirty="0"/>
          </a:p>
        </p:txBody>
      </p:sp>
      <p:sp>
        <p:nvSpPr>
          <p:cNvPr id="8" name="stat-mae-label"/>
          <p:cNvSpPr txBox="1"/>
          <p:nvPr/>
        </p:nvSpPr>
        <p:spPr>
          <a:xfrm>
            <a:off x="886968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MAE tinggi rumus vs 2.5D (median +0,52 m)</a:t>
            </a:r>
            <a:endParaRPr lang="en-US" sz="1300" dirty="0"/>
          </a:p>
        </p:txBody>
      </p:sp>
      <p:sp>
        <p:nvSpPr>
          <p:cNvPr id="9" name="stat-bias-nilai"/>
          <p:cNvSpPr txBox="1"/>
          <p:nvPr/>
        </p:nvSpPr>
        <p:spPr>
          <a:xfrm>
            <a:off x="886968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m</a:t>
            </a:r>
            <a:endParaRPr lang="en-US" sz="4000" dirty="0"/>
          </a:p>
        </p:txBody>
      </p:sp>
      <p:sp>
        <p:nvSpPr>
          <p:cNvPr id="10" name="stat-bias-label"/>
          <p:cNvSpPr txBox="1"/>
          <p:nvPr/>
        </p:nvSpPr>
        <p:spPr>
          <a:xfrm>
            <a:off x="886968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bias run 1: gedung 1 lantai jadi 8,5 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Semua 995 gedung berhasil dimodelkan 3D dalam hitungan detik</a:t>
            </a:r>
            <a:endParaRPr lang="en-US" sz="2800" dirty="0"/>
          </a:p>
        </p:txBody>
      </p:sp>
      <p:sp>
        <p:nvSpPr>
          <p:cNvPr id="3" name="ikon-output-1-lingkaran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4" name="ikon-output-1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411480" cy="411480"/>
          </a:xfrm>
          <a:prstGeom prst="rect">
            <a:avLst/>
          </a:prstGeom>
        </p:spPr>
      </p:pic>
      <p:sp>
        <p:nvSpPr>
          <p:cNvPr id="5" name="output-1-nama"/>
          <p:cNvSpPr txBox="1"/>
          <p:nvPr/>
        </p:nvSpPr>
        <p:spPr>
          <a:xfrm>
            <a:off x="1600200" y="1389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LOD1</a:t>
            </a:r>
            <a:endParaRPr lang="en-US" sz="1800" dirty="0"/>
          </a:p>
        </p:txBody>
      </p:sp>
      <p:sp>
        <p:nvSpPr>
          <p:cNvPr id="6" name="output-1-isi"/>
          <p:cNvSpPr txBox="1"/>
          <p:nvPr/>
        </p:nvSpPr>
        <p:spPr>
          <a:xfrm>
            <a:off x="160020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995 gedung · 0,56 s (0,56 ms/gedung)</a:t>
            </a:r>
            <a:endParaRPr lang="en-US" sz="1400" dirty="0"/>
          </a:p>
        </p:txBody>
      </p:sp>
      <p:sp>
        <p:nvSpPr>
          <p:cNvPr id="7" name="ikon-output-2-lingkaran"/>
          <p:cNvSpPr/>
          <p:nvPr/>
        </p:nvSpPr>
        <p:spPr>
          <a:xfrm>
            <a:off x="548640" y="2560320"/>
            <a:ext cx="822960" cy="8229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8" name="ikon-output-2-ik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766060"/>
            <a:ext cx="411480" cy="411480"/>
          </a:xfrm>
          <a:prstGeom prst="rect">
            <a:avLst/>
          </a:prstGeom>
        </p:spPr>
      </p:pic>
      <p:sp>
        <p:nvSpPr>
          <p:cNvPr id="9" name="output-2-nama"/>
          <p:cNvSpPr txBox="1"/>
          <p:nvPr/>
        </p:nvSpPr>
        <p:spPr>
          <a:xfrm>
            <a:off x="160020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LOD2</a:t>
            </a:r>
            <a:endParaRPr lang="en-US" sz="1800" dirty="0"/>
          </a:p>
        </p:txBody>
      </p:sp>
      <p:sp>
        <p:nvSpPr>
          <p:cNvPr id="10" name="output-2-isi"/>
          <p:cNvSpPr txBox="1"/>
          <p:nvPr/>
        </p:nvSpPr>
        <p:spPr>
          <a:xfrm>
            <a:off x="160020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±44 ribu jendela, 995 pintu · 3,4 s · 40 MB glb</a:t>
            </a:r>
            <a:endParaRPr lang="en-US" sz="1400" dirty="0"/>
          </a:p>
        </p:txBody>
      </p:sp>
      <p:sp>
        <p:nvSpPr>
          <p:cNvPr id="11" name="ikon-output-3-lingkaran"/>
          <p:cNvSpPr/>
          <p:nvPr/>
        </p:nvSpPr>
        <p:spPr>
          <a:xfrm>
            <a:off x="548640" y="3749040"/>
            <a:ext cx="822960" cy="8229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2" name="ikon-output-3-ik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954780"/>
            <a:ext cx="411480" cy="411480"/>
          </a:xfrm>
          <a:prstGeom prst="rect">
            <a:avLst/>
          </a:prstGeom>
        </p:spPr>
      </p:pic>
      <p:sp>
        <p:nvSpPr>
          <p:cNvPr id="13" name="output-3-nama"/>
          <p:cNvSpPr txBox="1"/>
          <p:nvPr/>
        </p:nvSpPr>
        <p:spPr>
          <a:xfrm>
            <a:off x="160020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Web-GIS</a:t>
            </a:r>
            <a:endParaRPr lang="en-US" sz="1800" dirty="0"/>
          </a:p>
        </p:txBody>
      </p:sp>
      <p:sp>
        <p:nvSpPr>
          <p:cNvPr id="14" name="output-3-isi"/>
          <p:cNvSpPr txBox="1"/>
          <p:nvPr/>
        </p:nvSpPr>
        <p:spPr>
          <a:xfrm>
            <a:off x="16002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ui3d_web.html: terrain + citra satelit, extruded + tooltip</a:t>
            </a:r>
            <a:endParaRPr lang="en-US" sz="1400" dirty="0"/>
          </a:p>
        </p:txBody>
      </p:sp>
      <p:sp>
        <p:nvSpPr>
          <p:cNvPr id="15" name="ikon-output-4-lingkaran"/>
          <p:cNvSpPr/>
          <p:nvPr/>
        </p:nvSpPr>
        <p:spPr>
          <a:xfrm>
            <a:off x="548640" y="4937760"/>
            <a:ext cx="822960" cy="8229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6" name="ikon-output-4-ik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43500"/>
            <a:ext cx="411480" cy="411480"/>
          </a:xfrm>
          <a:prstGeom prst="rect">
            <a:avLst/>
          </a:prstGeom>
        </p:spPr>
      </p:pic>
      <p:sp>
        <p:nvSpPr>
          <p:cNvPr id="17" name="output-4-nama"/>
          <p:cNvSpPr txBox="1"/>
          <p:nvPr/>
        </p:nvSpPr>
        <p:spPr>
          <a:xfrm>
            <a:off x="1600200" y="4956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Indoor</a:t>
            </a:r>
            <a:endParaRPr lang="en-US" sz="1800" dirty="0"/>
          </a:p>
        </p:txBody>
      </p:sp>
      <p:sp>
        <p:nvSpPr>
          <p:cNvPr id="18" name="output-4-isi"/>
          <p:cNvSpPr txBox="1"/>
          <p:nvPr/>
        </p:nvSpPr>
        <p:spPr>
          <a:xfrm>
            <a:off x="160020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Dekanat FTUI, 808 m², 2 lantai, koridor + ruang ±6 m</a:t>
            </a:r>
            <a:endParaRPr lang="en-US" sz="1400" dirty="0"/>
          </a:p>
        </p:txBody>
      </p:sp>
      <p:pic>
        <p:nvPicPr>
          <p:cNvPr id="19" name="gambar-banjir" descr="/home/luwes-system/Desktop/bahan ajar 2026/ui3d/figures/fig23_gedung_terdampa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371600"/>
            <a:ext cx="5486400" cy="3085442"/>
          </a:xfrm>
          <a:prstGeom prst="rect">
            <a:avLst/>
          </a:prstGeom>
        </p:spPr>
      </p:pic>
      <p:sp>
        <p:nvSpPr>
          <p:cNvPr id="20" name="banjir-catatan"/>
          <p:cNvSpPr txBox="1"/>
          <p:nvPr/>
        </p:nvSpPr>
        <p:spPr>
          <a:xfrm>
            <a:off x="6126480" y="4572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Banjir level 54–65 m: 8 → 435 gedung terdampak; metode terhubung ke danau hanya berbeda 0–9 gedung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Kesimpulan dan langkah berikutnya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Pakai model run 2 (e8, epoch 7) atau GOB v3 untuk footprint; perluas data latih untuk Mask R-CNN</a:t>
            </a:r>
            <a:endParaRPr lang="en-US" sz="2000" dirty="0"/>
          </a:p>
        </p:txBody>
      </p:sp>
      <p:sp>
        <p:nvSpPr>
          <p:cNvPr id="4" name="ikon-lanjut-1-lingkaran"/>
          <p:cNvSpPr/>
          <p:nvPr/>
        </p:nvSpPr>
        <p:spPr>
          <a:xfrm>
            <a:off x="731520" y="4892040"/>
            <a:ext cx="640080" cy="64008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5" name="ikon-lanjut-1-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5052060"/>
            <a:ext cx="320040" cy="320040"/>
          </a:xfrm>
          <a:prstGeom prst="rect">
            <a:avLst/>
          </a:prstGeom>
        </p:spPr>
      </p:pic>
      <p:sp>
        <p:nvSpPr>
          <p:cNvPr id="6" name="lanjut-1-nama"/>
          <p:cNvSpPr txBox="1"/>
          <p:nvPr/>
        </p:nvSpPr>
        <p:spPr>
          <a:xfrm>
            <a:off x="155448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Siap pakai</a:t>
            </a:r>
            <a:endParaRPr lang="en-US" sz="1600" dirty="0"/>
          </a:p>
        </p:txBody>
      </p:sp>
      <p:sp>
        <p:nvSpPr>
          <p:cNvPr id="7" name="lanjut-1-isi"/>
          <p:cNvSpPr txBox="1"/>
          <p:nvPr/>
        </p:nvSpPr>
        <p:spPr>
          <a:xfrm>
            <a:off x="1554480" y="5212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Footprint GOB v3, tinggi Pers. 1, 995 gedung LOD1/LOD2</a:t>
            </a:r>
            <a:endParaRPr lang="en-US" sz="1300" dirty="0"/>
          </a:p>
        </p:txBody>
      </p:sp>
      <p:sp>
        <p:nvSpPr>
          <p:cNvPr id="8" name="ikon-lanjut-2-lingkaran"/>
          <p:cNvSpPr/>
          <p:nvPr/>
        </p:nvSpPr>
        <p:spPr>
          <a:xfrm>
            <a:off x="4389120" y="4892040"/>
            <a:ext cx="640080" cy="640080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pic>
        <p:nvPicPr>
          <p:cNvPr id="9" name="ikon-lanjut-2-ik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5052060"/>
            <a:ext cx="320040" cy="320040"/>
          </a:xfrm>
          <a:prstGeom prst="rect">
            <a:avLst/>
          </a:prstGeom>
        </p:spPr>
      </p:pic>
      <p:sp>
        <p:nvSpPr>
          <p:cNvPr id="10" name="lanjut-2-nama"/>
          <p:cNvSpPr txBox="1"/>
          <p:nvPr/>
        </p:nvSpPr>
        <p:spPr>
          <a:xfrm>
            <a:off x="521208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Perlu perbaikan</a:t>
            </a:r>
            <a:endParaRPr lang="en-US" sz="1600" dirty="0"/>
          </a:p>
        </p:txBody>
      </p:sp>
      <p:sp>
        <p:nvSpPr>
          <p:cNvPr id="11" name="lanjut-2-isi"/>
          <p:cNvSpPr txBox="1"/>
          <p:nvPr/>
        </p:nvSpPr>
        <p:spPr>
          <a:xfrm>
            <a:off x="5212080" y="5212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Mask R-CNN: data latih lebih luas, label vegetasi lengkap, jalan via segmentasi semantik</a:t>
            </a:r>
            <a:endParaRPr lang="en-US" sz="1300" dirty="0"/>
          </a:p>
        </p:txBody>
      </p:sp>
      <p:sp>
        <p:nvSpPr>
          <p:cNvPr id="12" name="ikon-lanjut-3-lingkaran"/>
          <p:cNvSpPr/>
          <p:nvPr/>
        </p:nvSpPr>
        <p:spPr>
          <a:xfrm>
            <a:off x="8046720" y="4892040"/>
            <a:ext cx="640080" cy="64008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3" name="ikon-lanjut-3-ik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5052060"/>
            <a:ext cx="320040" cy="320040"/>
          </a:xfrm>
          <a:prstGeom prst="rect">
            <a:avLst/>
          </a:prstGeom>
        </p:spPr>
      </p:pic>
      <p:sp>
        <p:nvSpPr>
          <p:cNvPr id="14" name="lanjut-3-nama"/>
          <p:cNvSpPr txBox="1"/>
          <p:nvPr/>
        </p:nvSpPr>
        <p:spPr>
          <a:xfrm>
            <a:off x="886968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Terrain</a:t>
            </a:r>
            <a:endParaRPr lang="en-US" sz="1600" dirty="0"/>
          </a:p>
        </p:txBody>
      </p:sp>
      <p:sp>
        <p:nvSpPr>
          <p:cNvPr id="15" name="lanjut-3-isi"/>
          <p:cNvSpPr txBox="1"/>
          <p:nvPr/>
        </p:nvSpPr>
        <p:spPr>
          <a:xfrm>
            <a:off x="8869680" y="5212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Butuh DTM atau survei GNSS/levelling untuk hasil setara paper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Hillshade memperlihatkan DEM merekam kanopi dan atap</a:t>
            </a:r>
            <a:endParaRPr lang="en-US" sz="2800" dirty="0"/>
          </a:p>
        </p:txBody>
      </p:sp>
      <p:pic>
        <p:nvPicPr>
          <p:cNvPr id="3" name="gambar-hillshade" descr="Hillshade DEMNAS (kiri) dan Copernicus GLO-30 (kanan) di sekitar kampus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069614"/>
          </a:xfrm>
          <a:prstGeom prst="rect">
            <a:avLst/>
          </a:prstGeom>
        </p:spPr>
      </p:pic>
      <p:sp>
        <p:nvSpPr>
          <p:cNvPr id="4" name="kartu-hillshade"/>
          <p:cNvSpPr/>
          <p:nvPr/>
        </p:nvSpPr>
        <p:spPr>
          <a:xfrm>
            <a:off x="8686800" y="1371600"/>
            <a:ext cx="2926080" cy="4526814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illshade-poin"/>
          <p:cNvSpPr txBox="1"/>
          <p:nvPr/>
        </p:nvSpPr>
        <p:spPr>
          <a:xfrm>
            <a:off x="8915400" y="1600200"/>
            <a:ext cx="2514600" cy="406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DEMNAS lebih tajam: alur sungai di timur kampus terlihat jelas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Tapi berbintik karena kanopi dan atap ikut terekam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Copernicus lebih halus (asli 30 m), gedung kampus tetap muncul sebagai gundukan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Keduanya DSM, bukan DTM: ini sumber RMSE ±7,6 m di slide sebelumnya</a:t>
            </a:r>
            <a:endParaRPr lang="en-US" sz="1400" dirty="0"/>
          </a:p>
        </p:txBody>
      </p:sp>
      <p:sp>
        <p:nvSpPr>
          <p:cNvPr id="6" name="hillshade-catatan"/>
          <p:cNvSpPr txBox="1"/>
          <p:nvPr/>
        </p:nvSpPr>
        <p:spPr>
          <a:xfrm>
            <a:off x="548640" y="553265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Metode Horn, azimut 315°, altitude 45°, z×3; identik dengan gdaldem (selisih ≤ 0,5 dari 255)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 3D kini berdiri di atas terrain bertekstur citra</a:t>
            </a:r>
            <a:endParaRPr lang="en-US" sz="2800" dirty="0"/>
          </a:p>
        </p:txBody>
      </p:sp>
      <p:pic>
        <p:nvPicPr>
          <p:cNvPr id="3" name="gambar-visual-3d" descr="Kiri: LOD2 bertekstur citra. Tengah: Web-GIS dengan terrain dan citra satelit. Kanan: genangan level 65 m dengan 435 gedung terdamp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2405270"/>
          </a:xfrm>
          <a:prstGeom prst="rect">
            <a:avLst/>
          </a:prstGeom>
        </p:spPr>
      </p:pic>
      <p:sp>
        <p:nvSpPr>
          <p:cNvPr id="4" name="visual-3d-poin"/>
          <p:cNvSpPr txBox="1"/>
          <p:nvPr/>
        </p:nvSpPr>
        <p:spPr>
          <a:xfrm>
            <a:off x="548640" y="3959750"/>
            <a:ext cx="11064240" cy="225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LOD2 (notebook 07, 11): citra 0,3 m di kampus + cincin 1 km citra 1,2 m; danau di-hydro-flatten agar tidak tertutup tepian DSM; animasi orbit ui_orbit.gif/.mp4 dengan PyVista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Web-GIS (notebook 08): terrain AWS Terrain Tiles + citra Esri di-stream; dasar tiap gedung diambil dari tinggi terrain yang sama agar tidak melayang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Genangan (notebook 09): muka air naik 54 → 65 m di atas DTM bertekstur citra, gedung kuning → merah; 8 → 435 gedung terdampak (flood_rise.gif)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I3D Hutan Kampus">
  <a:themeElements>
    <a:clrScheme name="UI3D Hutan Kampus">
      <a:dk1>
        <a:srgbClr val="1B2A27"/>
      </a:dk1>
      <a:lt1>
        <a:srgbClr val="FFFFFF"/>
      </a:lt1>
      <a:dk2>
        <a:srgbClr val="17403A"/>
      </a:dk2>
      <a:lt2>
        <a:srgbClr val="EDF3F0"/>
      </a:lt2>
      <a:accent1>
        <a:srgbClr val="1F7A5A"/>
      </a:accent1>
      <a:accent2>
        <a:srgbClr val="E8892B"/>
      </a:accent2>
      <a:accent3>
        <a:srgbClr val="2B6CB0"/>
      </a:accent3>
      <a:accent4>
        <a:srgbClr val="8C9A95"/>
      </a:accent4>
      <a:accent5>
        <a:srgbClr val="C0392B"/>
      </a:accent5>
      <a:accent6>
        <a:srgbClr val="7FB685"/>
      </a:accent6>
      <a:hlink>
        <a:srgbClr val="2B6CB0"/>
      </a:hlink>
      <a:folHlink>
        <a:srgbClr val="6D5BA8"/>
      </a:folHlink>
    </a:clrScheme>
    <a:fontScheme name="UI3D Hutan Kamp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Validasi Pipeline 3D City Model Kampus UI Depok</dc:title>
  <dc:subject>PptxGenJS Presentation</dc:subject>
  <dc:creator>Bahan ajar S2 — Analisa Data 3D</dc:creator>
  <cp:lastModifiedBy>Bahan ajar S2 — Analisa Data 3D</cp:lastModifiedBy>
  <cp:revision>1</cp:revision>
  <dcterms:created xsi:type="dcterms:W3CDTF">2026-10-16T10:20:37Z</dcterms:created>
  <dcterms:modified xsi:type="dcterms:W3CDTF">2026-10-16T10:20:37Z</dcterms:modified>
</cp:coreProperties>
</file>